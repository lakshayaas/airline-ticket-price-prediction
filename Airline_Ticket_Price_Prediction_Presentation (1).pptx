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147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Airline Ticket Price </a:t>
            </a:r>
            <a:r>
              <a:rPr dirty="0" smtClean="0"/>
              <a:t>Prediction</a:t>
            </a:r>
            <a:r>
              <a:rPr lang="en-US" dirty="0" smtClean="0"/>
              <a:t> </a:t>
            </a:r>
            <a:r>
              <a:rPr lang="en-US" dirty="0"/>
              <a:t>Machine </a:t>
            </a:r>
            <a:r>
              <a:rPr lang="en-US" dirty="0" smtClean="0"/>
              <a:t>Learning (Regression) 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200"/>
            </a:pPr>
            <a:r>
              <a:rPr lang="en-US" b="1" dirty="0" smtClean="0">
                <a:solidFill>
                  <a:schemeClr val="tx1"/>
                </a:solidFill>
              </a:rPr>
              <a:t>BY:</a:t>
            </a:r>
          </a:p>
          <a:p>
            <a:pPr>
              <a:defRPr sz="2200"/>
            </a:pPr>
            <a:r>
              <a:rPr lang="en-US" b="1" dirty="0" err="1" smtClean="0">
                <a:solidFill>
                  <a:schemeClr val="tx1"/>
                </a:solidFill>
              </a:rPr>
              <a:t>Lakshayaa</a:t>
            </a:r>
            <a:r>
              <a:rPr lang="en-US" b="1" dirty="0" smtClean="0">
                <a:solidFill>
                  <a:schemeClr val="tx1"/>
                </a:solidFill>
              </a:rPr>
              <a:t> Sundararajan</a:t>
            </a:r>
          </a:p>
          <a:p>
            <a:pPr>
              <a:defRPr sz="2200"/>
            </a:pPr>
            <a:r>
              <a:rPr lang="en-US" b="1" dirty="0" smtClean="0">
                <a:solidFill>
                  <a:schemeClr val="tx1"/>
                </a:solidFill>
              </a:rPr>
              <a:t>KJSSE</a:t>
            </a:r>
          </a:p>
          <a:p>
            <a:pPr>
              <a:defRPr sz="2200"/>
            </a:pPr>
            <a:r>
              <a:rPr lang="en-US" b="1" dirty="0" smtClean="0">
                <a:solidFill>
                  <a:schemeClr val="tx1"/>
                </a:solidFill>
              </a:rPr>
              <a:t>THIRD YEAR</a:t>
            </a:r>
            <a:endParaRPr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defRPr sz="2200"/>
            </a:pPr>
            <a:r>
              <a:rPr dirty="0"/>
              <a:t>Predict airline ticket prices using historical flight </a:t>
            </a:r>
            <a:r>
              <a:rPr dirty="0" smtClean="0"/>
              <a:t>data</a:t>
            </a:r>
            <a:endParaRPr lang="en-US" dirty="0" smtClean="0"/>
          </a:p>
          <a:p>
            <a:pPr>
              <a:defRPr sz="2200"/>
            </a:pPr>
            <a:r>
              <a:rPr lang="en-US" sz="2200" dirty="0"/>
              <a:t>A</a:t>
            </a:r>
            <a:r>
              <a:rPr lang="en-US" sz="2200" dirty="0" smtClean="0"/>
              <a:t>ny </a:t>
            </a:r>
            <a:r>
              <a:rPr lang="en-US" sz="2200" dirty="0"/>
              <a:t>factors contribute to the frequent changes in air fares.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task of manually determining the optimal ticket price is challenging for the passengers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Dynamic pricing is used by airlines, making fare prediction a more complex task.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By </a:t>
            </a:r>
            <a:r>
              <a:rPr lang="en-US" sz="2200" dirty="0"/>
              <a:t>analyzing past flight data, machine learning can detect patterns in flight prices.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goal of this project is to create a valid model to predict the price of an airline ticket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We will use a dataset to </a:t>
            </a:r>
            <a:r>
              <a:rPr lang="en-US" sz="2200" dirty="0" smtClean="0"/>
              <a:t>guide this project (given to us from </a:t>
            </a:r>
            <a:r>
              <a:rPr lang="en-US" sz="2200" dirty="0" err="1" smtClean="0"/>
              <a:t>kaggle</a:t>
            </a:r>
            <a:r>
              <a:rPr lang="en-US" sz="2200" dirty="0" smtClean="0"/>
              <a:t>)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2200"/>
            </a:pPr>
            <a:r>
              <a:rPr lang="en-US" sz="2200" dirty="0"/>
              <a:t>The data is obtained from </a:t>
            </a:r>
            <a:r>
              <a:rPr lang="en-US" sz="2200" dirty="0" err="1"/>
              <a:t>Kaggle</a:t>
            </a:r>
            <a:r>
              <a:rPr lang="en-US" sz="2200" dirty="0"/>
              <a:t> (Airlines Flights Data).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Includes </a:t>
            </a:r>
            <a:r>
              <a:rPr lang="en-US" sz="2200" dirty="0"/>
              <a:t>details about historical airline tickets.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Has </a:t>
            </a:r>
            <a:r>
              <a:rPr lang="en-US" sz="2200" dirty="0"/>
              <a:t>numeric and categorical attributes.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Target </a:t>
            </a:r>
            <a:r>
              <a:rPr lang="en-US" sz="2200" dirty="0"/>
              <a:t>Variable: Ticket Price</a:t>
            </a:r>
            <a:r>
              <a:rPr lang="en-US" sz="2200" dirty="0" smtClean="0"/>
              <a:t>.</a:t>
            </a:r>
          </a:p>
          <a:p>
            <a:pPr marL="0" indent="0">
              <a:buNone/>
              <a:defRPr sz="2200"/>
            </a:pPr>
            <a:r>
              <a:rPr lang="en-US" sz="2200" b="1" dirty="0" smtClean="0"/>
              <a:t> Features </a:t>
            </a:r>
            <a:r>
              <a:rPr lang="en-US" sz="2200" b="1" dirty="0"/>
              <a:t>Used </a:t>
            </a:r>
            <a:r>
              <a:rPr lang="en-US" sz="2200" b="1" dirty="0" smtClean="0"/>
              <a:t>:</a:t>
            </a:r>
          </a:p>
          <a:p>
            <a:pPr>
              <a:defRPr sz="2200"/>
            </a:pPr>
            <a:r>
              <a:rPr lang="en-US" sz="2200" dirty="0" smtClean="0"/>
              <a:t>Airline </a:t>
            </a:r>
            <a:r>
              <a:rPr lang="en-US" sz="2200" dirty="0"/>
              <a:t>Source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City </a:t>
            </a:r>
            <a:r>
              <a:rPr lang="en-US" sz="2200" dirty="0"/>
              <a:t>Destination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City </a:t>
            </a:r>
            <a:r>
              <a:rPr lang="en-US" sz="2200" dirty="0"/>
              <a:t>Departure Time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Arrival </a:t>
            </a:r>
            <a:r>
              <a:rPr lang="en-US" sz="2200" dirty="0"/>
              <a:t>Time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Number </a:t>
            </a:r>
            <a:r>
              <a:rPr lang="en-US" sz="2200" dirty="0"/>
              <a:t>of </a:t>
            </a:r>
            <a:r>
              <a:rPr lang="en-US" sz="2200" dirty="0" smtClean="0"/>
              <a:t>Stops</a:t>
            </a:r>
          </a:p>
          <a:p>
            <a:pPr>
              <a:defRPr sz="2200"/>
            </a:pPr>
            <a:r>
              <a:rPr lang="en-US" sz="2200" dirty="0" smtClean="0"/>
              <a:t>Travel </a:t>
            </a:r>
            <a:r>
              <a:rPr lang="en-US" sz="2200" dirty="0"/>
              <a:t>Class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Flight Duration</a:t>
            </a:r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number of days remaining before leaving.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>
              <a:defRPr sz="2200"/>
            </a:pPr>
            <a:r>
              <a:rPr lang="en-US" sz="2200" dirty="0" smtClean="0"/>
              <a:t>Imported </a:t>
            </a:r>
            <a:r>
              <a:rPr lang="en-US" sz="2200" dirty="0"/>
              <a:t>the data set with Pandas.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Validated </a:t>
            </a:r>
            <a:r>
              <a:rPr lang="en-US" sz="2200" dirty="0"/>
              <a:t>the structure and types of the </a:t>
            </a:r>
            <a:r>
              <a:rPr lang="en-US" sz="2200" dirty="0" smtClean="0"/>
              <a:t>datasets.</a:t>
            </a:r>
          </a:p>
          <a:p>
            <a:pPr>
              <a:defRPr sz="2200"/>
            </a:pPr>
            <a:r>
              <a:rPr lang="en-US" sz="2200" dirty="0" smtClean="0"/>
              <a:t>Removed </a:t>
            </a:r>
            <a:r>
              <a:rPr lang="en-US" sz="2200" dirty="0"/>
              <a:t>duplicate records.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Handled </a:t>
            </a:r>
            <a:r>
              <a:rPr lang="en-US" sz="2200" dirty="0"/>
              <a:t>missing values.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Label </a:t>
            </a:r>
            <a:r>
              <a:rPr lang="en-US" sz="2200" dirty="0"/>
              <a:t>Encoded categorical </a:t>
            </a:r>
            <a:r>
              <a:rPr lang="en-US" sz="2200" dirty="0" smtClean="0"/>
              <a:t>variables.</a:t>
            </a:r>
          </a:p>
          <a:p>
            <a:pPr>
              <a:defRPr sz="2200"/>
            </a:pPr>
            <a:r>
              <a:rPr lang="en-US" sz="2200" dirty="0" smtClean="0"/>
              <a:t>Performed </a:t>
            </a:r>
            <a:r>
              <a:rPr lang="en-US" sz="2200" dirty="0"/>
              <a:t>feature engineering.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Identified </a:t>
            </a:r>
            <a:r>
              <a:rPr lang="en-US" sz="2200" dirty="0"/>
              <a:t>salient features to use for model training.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Split </a:t>
            </a:r>
            <a:r>
              <a:rPr lang="en-US" sz="2200" dirty="0"/>
              <a:t>the dataset into training and testing sets.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sz="2200" dirty="0"/>
              <a:t>Linear </a:t>
            </a:r>
            <a:r>
              <a:rPr lang="en-US" sz="2200" dirty="0" smtClean="0"/>
              <a:t>Regression, Random Fo</a:t>
            </a:r>
            <a:r>
              <a:rPr lang="en-US" sz="2200" dirty="0"/>
              <a:t>r</a:t>
            </a:r>
            <a:r>
              <a:rPr lang="en-US" sz="2200" dirty="0" smtClean="0"/>
              <a:t>est Regression, </a:t>
            </a:r>
            <a:r>
              <a:rPr lang="en-US" sz="2200" dirty="0" err="1" smtClean="0"/>
              <a:t>XGBoost</a:t>
            </a:r>
            <a:r>
              <a:rPr lang="en-US" sz="2200" dirty="0" smtClean="0"/>
              <a:t> </a:t>
            </a:r>
            <a:r>
              <a:rPr lang="en-US" sz="2200" dirty="0"/>
              <a:t>Regression </a:t>
            </a:r>
            <a:r>
              <a:rPr lang="en-US" sz="2200" dirty="0" err="1"/>
              <a:t>CatBoost</a:t>
            </a:r>
            <a:r>
              <a:rPr lang="en-US" sz="2200" dirty="0"/>
              <a:t> </a:t>
            </a:r>
            <a:r>
              <a:rPr lang="en-US" sz="2200" dirty="0" smtClean="0"/>
              <a:t>Regression. Why </a:t>
            </a:r>
            <a:r>
              <a:rPr lang="en-US" sz="2200" dirty="0"/>
              <a:t>These Models?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Linear </a:t>
            </a:r>
            <a:r>
              <a:rPr lang="en-US" sz="2200" dirty="0"/>
              <a:t>Regression gives a baseline prediction model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Random </a:t>
            </a:r>
            <a:r>
              <a:rPr lang="en-US" sz="2200" dirty="0"/>
              <a:t>Forest is an improvement on prediction using ensemble learning.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err="1" smtClean="0"/>
              <a:t>XGBoost</a:t>
            </a:r>
            <a:r>
              <a:rPr lang="en-US" sz="2200" dirty="0" smtClean="0"/>
              <a:t> </a:t>
            </a:r>
            <a:r>
              <a:rPr lang="en-US" sz="2200" dirty="0"/>
              <a:t>provides boosting that is both efficient and accurate.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err="1" smtClean="0"/>
              <a:t>CatBoost</a:t>
            </a:r>
            <a:r>
              <a:rPr lang="en-US" sz="2200" dirty="0" smtClean="0"/>
              <a:t> </a:t>
            </a:r>
            <a:r>
              <a:rPr lang="en-US" sz="2200" dirty="0"/>
              <a:t>is able to work with categorical data.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Model </a:t>
            </a:r>
            <a:r>
              <a:rPr lang="en-US" sz="2200" dirty="0"/>
              <a:t>performance was compared using evaluation metrics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sz="2200" dirty="0" smtClean="0"/>
              <a:t>Cleaned </a:t>
            </a:r>
            <a:r>
              <a:rPr lang="en-US" sz="2200" dirty="0"/>
              <a:t>and loaded the data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Carried out Exploratory Data Analysis (EDA</a:t>
            </a:r>
            <a:r>
              <a:rPr lang="en-US" sz="2200" dirty="0" smtClean="0"/>
              <a:t>).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Used statistical hypothesis testing (ANOVA, T-Test, Pearson correlation</a:t>
            </a:r>
            <a:r>
              <a:rPr lang="en-US" sz="2200" dirty="0" smtClean="0"/>
              <a:t>).</a:t>
            </a:r>
          </a:p>
          <a:p>
            <a:pPr>
              <a:defRPr sz="2200"/>
            </a:pPr>
            <a:r>
              <a:rPr lang="en-US" sz="2200" dirty="0" smtClean="0"/>
              <a:t>Implemented </a:t>
            </a:r>
            <a:r>
              <a:rPr lang="en-US" sz="2200" dirty="0"/>
              <a:t>feature encoding and feature selection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Trained several machine learning </a:t>
            </a:r>
            <a:r>
              <a:rPr lang="en-US" sz="2200" dirty="0" smtClean="0"/>
              <a:t>models.</a:t>
            </a:r>
          </a:p>
          <a:p>
            <a:pPr>
              <a:defRPr sz="2200"/>
            </a:pPr>
            <a:r>
              <a:rPr lang="en-US" sz="2200" dirty="0" smtClean="0"/>
              <a:t>Tuned </a:t>
            </a:r>
            <a:r>
              <a:rPr lang="en-US" sz="2200" dirty="0"/>
              <a:t>hyper parameters using </a:t>
            </a:r>
            <a:r>
              <a:rPr lang="en-US" sz="2200" dirty="0" err="1"/>
              <a:t>RandomizedSearchCV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Saved </a:t>
            </a:r>
            <a:r>
              <a:rPr lang="en-US" sz="2200" dirty="0"/>
              <a:t>the best performing model using Pickle.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sz="2200" dirty="0"/>
              <a:t>Evaluated models using: Mean Absolute Error (MAE) Root Mean Squared Error (RMSE) R² Score </a:t>
            </a:r>
            <a:r>
              <a:rPr lang="en-US" sz="2200" dirty="0" smtClean="0"/>
              <a:t>compared </a:t>
            </a:r>
            <a:r>
              <a:rPr lang="en-US" sz="2200" dirty="0"/>
              <a:t>the performance of all models.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Created </a:t>
            </a:r>
            <a:r>
              <a:rPr lang="en-US" sz="2200" dirty="0"/>
              <a:t>feature importance graphs.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overall best prediction accuracy was obtained by the Random Forest/</a:t>
            </a:r>
            <a:r>
              <a:rPr lang="en-US" sz="2200" dirty="0" err="1"/>
              <a:t>XGBoost</a:t>
            </a:r>
            <a:r>
              <a:rPr lang="en-US" sz="2200" dirty="0"/>
              <a:t> model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 </a:t>
            </a:r>
            <a:r>
              <a:rPr lang="en-US" sz="2200" dirty="0"/>
              <a:t>The trained model was able to successfully predict the ticket prices of airlines</a:t>
            </a:r>
            <a:r>
              <a:rPr lang="en-US" sz="2200" dirty="0" smtClean="0"/>
              <a:t>.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sz="2200" dirty="0"/>
              <a:t>Price forecast for airline </a:t>
            </a:r>
            <a:r>
              <a:rPr lang="en-US" sz="2200" dirty="0" smtClean="0"/>
              <a:t>tickets.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Dynamic </a:t>
            </a:r>
            <a:r>
              <a:rPr lang="en-US" sz="2200" dirty="0"/>
              <a:t>pricing systems.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Travel </a:t>
            </a:r>
            <a:r>
              <a:rPr lang="en-US" sz="2200" dirty="0"/>
              <a:t>booking websites.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Airlines </a:t>
            </a:r>
            <a:r>
              <a:rPr lang="en-US" sz="2200" dirty="0"/>
              <a:t>revenue management.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Customer </a:t>
            </a:r>
            <a:r>
              <a:rPr lang="en-US" sz="2200" dirty="0"/>
              <a:t>price estimation.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Market </a:t>
            </a:r>
            <a:r>
              <a:rPr lang="en-US" sz="2200" dirty="0"/>
              <a:t>trend analysis.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Business </a:t>
            </a:r>
            <a:r>
              <a:rPr lang="en-US" sz="2200" dirty="0"/>
              <a:t>decision support.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  <a:defRPr sz="2200"/>
            </a:pPr>
            <a:r>
              <a:rPr lang="en-US" sz="2200" b="1" dirty="0" smtClean="0"/>
              <a:t>Limitations:-</a:t>
            </a:r>
          </a:p>
          <a:p>
            <a:pPr>
              <a:defRPr sz="2200"/>
            </a:pPr>
            <a:r>
              <a:rPr lang="en-US" sz="2200" dirty="0" smtClean="0"/>
              <a:t>Model </a:t>
            </a:r>
            <a:r>
              <a:rPr lang="en-US" sz="2200" dirty="0"/>
              <a:t>is based on past information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This </a:t>
            </a:r>
            <a:r>
              <a:rPr lang="en-US" sz="2200" dirty="0"/>
              <a:t>may result in decreased accuracy with rapid fluctuations in the market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Real-time </a:t>
            </a:r>
            <a:r>
              <a:rPr lang="en-US" sz="2200" dirty="0"/>
              <a:t>factors such as weather and demand are not included.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quality of the data has an impact on the performance. </a:t>
            </a:r>
            <a:endParaRPr lang="en-US" sz="2200" dirty="0" smtClean="0"/>
          </a:p>
          <a:p>
            <a:pPr marL="0" indent="0">
              <a:buNone/>
              <a:defRPr sz="2200"/>
            </a:pPr>
            <a:r>
              <a:rPr lang="en-US" sz="2200" b="1" dirty="0" smtClean="0"/>
              <a:t>Future Work:-</a:t>
            </a:r>
          </a:p>
          <a:p>
            <a:pPr>
              <a:defRPr sz="2200"/>
            </a:pPr>
            <a:r>
              <a:rPr lang="en-US" sz="2200" dirty="0" smtClean="0"/>
              <a:t>Utilize </a:t>
            </a:r>
            <a:r>
              <a:rPr lang="en-US" sz="2200" dirty="0"/>
              <a:t>larger and up-to-the-minute data sets.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Gain </a:t>
            </a:r>
            <a:r>
              <a:rPr lang="en-US" sz="2200" dirty="0"/>
              <a:t>higher accuracy performance with advanced deep learning models.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Run </a:t>
            </a:r>
            <a:r>
              <a:rPr lang="en-US" sz="2200" dirty="0"/>
              <a:t>the model as a web App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Connect </a:t>
            </a:r>
            <a:r>
              <a:rPr lang="en-US" sz="2200" dirty="0"/>
              <a:t>with real time airline booking systems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Include </a:t>
            </a:r>
            <a:r>
              <a:rPr lang="en-US" sz="2200" dirty="0"/>
              <a:t>additional pricing factors such as holidays and weather. 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sz="2200" dirty="0" smtClean="0"/>
              <a:t>Created </a:t>
            </a:r>
            <a:r>
              <a:rPr lang="en-US" sz="2200" dirty="0"/>
              <a:t>a machine learning model to forecast airline ticket prices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smtClean="0"/>
              <a:t>Data </a:t>
            </a:r>
            <a:r>
              <a:rPr lang="en-US" sz="2200" dirty="0"/>
              <a:t>Preprocessing, EDA, Hypothesis Testing and Feature Engineering were done successfully.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Trained </a:t>
            </a:r>
            <a:r>
              <a:rPr lang="en-US" sz="2200" dirty="0"/>
              <a:t>and tested Linear Regression, Random Forest, </a:t>
            </a:r>
            <a:r>
              <a:rPr lang="en-US" sz="2200" dirty="0" err="1"/>
              <a:t>XGBoost</a:t>
            </a:r>
            <a:r>
              <a:rPr lang="en-US" sz="2200" dirty="0"/>
              <a:t> and </a:t>
            </a:r>
            <a:r>
              <a:rPr lang="en-US" sz="2200" dirty="0" err="1"/>
              <a:t>CatBoost</a:t>
            </a:r>
            <a:r>
              <a:rPr lang="en-US" sz="2200" dirty="0"/>
              <a:t> models</a:t>
            </a:r>
            <a:r>
              <a:rPr lang="en-US" sz="2200" dirty="0" smtClean="0"/>
              <a:t>.</a:t>
            </a:r>
          </a:p>
          <a:p>
            <a:pPr>
              <a:defRPr sz="2200"/>
            </a:pPr>
            <a:r>
              <a:rPr lang="en-US" sz="2200" dirty="0" smtClean="0"/>
              <a:t>Compared </a:t>
            </a:r>
            <a:r>
              <a:rPr lang="en-US" sz="2200" dirty="0"/>
              <a:t>the performance of the models using MAE, RMSE and R² Score.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Selected </a:t>
            </a:r>
            <a:r>
              <a:rPr lang="en-US" sz="2200" dirty="0"/>
              <a:t>the appropriate model for predicting the price of tickets. </a:t>
            </a:r>
            <a:endParaRPr lang="en-US" sz="2200" dirty="0" smtClean="0"/>
          </a:p>
          <a:p>
            <a:pPr>
              <a:defRPr sz="2200"/>
            </a:pPr>
            <a:r>
              <a:rPr lang="en-US" sz="2200" dirty="0" smtClean="0"/>
              <a:t>The </a:t>
            </a:r>
            <a:r>
              <a:rPr lang="en-US" sz="2200" dirty="0"/>
              <a:t>project is an example of how machine learning can help with intelligent pricing in the airline industry.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624</Words>
  <Application>Microsoft Office PowerPoint</Application>
  <PresentationFormat>On-screen Show (4:3)</PresentationFormat>
  <Paragraphs>83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Airline Ticket Price Prediction Machine Learning (Regression) </vt:lpstr>
      <vt:lpstr>Problem Statement</vt:lpstr>
      <vt:lpstr>Dataset &amp; Features</vt:lpstr>
      <vt:lpstr>Data Preprocessing</vt:lpstr>
      <vt:lpstr>Model Selection</vt:lpstr>
      <vt:lpstr>Implementation</vt:lpstr>
      <vt:lpstr>Results</vt:lpstr>
      <vt:lpstr>Applications</vt:lpstr>
      <vt:lpstr>Limitations &amp; Future Work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Airline Ticket Price Prediction Machine Learning (Regression)</dc:title>
  <dc:subject/>
  <dc:creator>Administrator</dc:creator>
  <cp:keywords/>
  <dc:description>generated using python-pptx</dc:description>
  <cp:lastModifiedBy>Administrator</cp:lastModifiedBy>
  <cp:revision>5</cp:revision>
  <dcterms:created xsi:type="dcterms:W3CDTF">2013-01-27T09:14:16Z</dcterms:created>
  <dcterms:modified xsi:type="dcterms:W3CDTF">2026-07-25T13:47:04Z</dcterms:modified>
  <cp:category/>
</cp:coreProperties>
</file>